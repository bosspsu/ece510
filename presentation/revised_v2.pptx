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9F21E-CF9C-40A8-8537-229D5D959065}" v="1" dt="2026-04-22T02:33:08.4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Boss" userId="ef535d061326e637" providerId="LiveId" clId="{12F18373-19B8-47C5-BAE5-4B7354C3B846}"/>
    <pc:docChg chg="undo custSel modSld">
      <pc:chgData name="David Boss" userId="ef535d061326e637" providerId="LiveId" clId="{12F18373-19B8-47C5-BAE5-4B7354C3B846}" dt="2026-04-22T02:33:53.144" v="18" actId="1076"/>
      <pc:docMkLst>
        <pc:docMk/>
      </pc:docMkLst>
      <pc:sldChg chg="addSp delSp modSp mod">
        <pc:chgData name="David Boss" userId="ef535d061326e637" providerId="LiveId" clId="{12F18373-19B8-47C5-BAE5-4B7354C3B846}" dt="2026-04-22T02:33:53.144" v="18" actId="1076"/>
        <pc:sldMkLst>
          <pc:docMk/>
          <pc:sldMk cId="0" sldId="256"/>
        </pc:sldMkLst>
        <pc:spChg chg="del mod">
          <ac:chgData name="David Boss" userId="ef535d061326e637" providerId="LiveId" clId="{12F18373-19B8-47C5-BAE5-4B7354C3B846}" dt="2026-04-22T02:33:07.368" v="11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David Boss" userId="ef535d061326e637" providerId="LiveId" clId="{12F18373-19B8-47C5-BAE5-4B7354C3B846}" dt="2026-04-22T02:33:19.990" v="14" actId="14100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David Boss" userId="ef535d061326e637" providerId="LiveId" clId="{12F18373-19B8-47C5-BAE5-4B7354C3B846}" dt="2026-04-22T02:33:37.121" v="15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David Boss" userId="ef535d061326e637" providerId="LiveId" clId="{12F18373-19B8-47C5-BAE5-4B7354C3B846}" dt="2026-04-21T02:01:40.787" v="9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David Boss" userId="ef535d061326e637" providerId="LiveId" clId="{12F18373-19B8-47C5-BAE5-4B7354C3B846}" dt="2026-04-22T02:33:53.144" v="18" actId="1076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David Boss" userId="ef535d061326e637" providerId="LiveId" clId="{12F18373-19B8-47C5-BAE5-4B7354C3B846}" dt="2026-04-22T02:33:08.476" v="12"/>
          <ac:spMkLst>
            <pc:docMk/>
            <pc:sldMk cId="0" sldId="256"/>
            <ac:spMk id="12" creationId="{78454FE5-8E75-A800-C4E8-28EBB4D31E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Dataflow-Fused Transformer Training Accelerator Chiplet</a:t>
            </a:r>
          </a:p>
          <a:p>
            <a:pPr algn="ctr">
              <a:defRPr sz="1100">
                <a:solidFill>
                  <a:srgbClr val="CCCCCC"/>
                </a:solidFill>
              </a:defRPr>
            </a:pPr>
            <a:r>
              <a:t>End-to-end fusion of FFN + attention sublayers to eliminate intermediate SRAM traffic  |  ECE 510  |  Spring 2026  |  David Boss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2011680"/>
            <a:ext cx="384048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rPr dirty="0"/>
              <a:t>FP32 Roofline Estimates (</a:t>
            </a:r>
            <a:r>
              <a:rPr dirty="0" err="1"/>
              <a:t>ff_backward</a:t>
            </a:r>
            <a:r>
              <a:rPr dirty="0"/>
              <a:t> kernel)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Platform           Peak      BW        Attain.   Bound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──────────────────────────────────────────────────────────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i5-10500H CPU      864G      25.6 GB/s    278 G/s   mem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RTX 3050 Ti       5.3T     192 GB/s   2,085 G/s   mem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RTX 4080         48.7T     717 GB/s   7,783 G/s   mem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Accel+ (fused)    8.2T     512 GB/s   8,192 G/s   COMP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endParaRPr dirty="0"/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Fusion shifts AI from 10.86 → 35.4 FLOP/B, crossing the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ridge point. Accelerator becomes compute-bound, hitting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the full 8.2 TFLOP/s systolic peak.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endParaRPr dirty="0"/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Note: estimates from roofline model, not measured silicon.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Config: B=4, T=64, </a:t>
            </a:r>
            <a:r>
              <a:rPr dirty="0" err="1"/>
              <a:t>d_model</a:t>
            </a:r>
            <a:r>
              <a:rPr dirty="0"/>
              <a:t>=64, </a:t>
            </a:r>
            <a:r>
              <a:rPr dirty="0" err="1"/>
              <a:t>d_ff</a:t>
            </a:r>
            <a:r>
              <a:rPr dirty="0"/>
              <a:t>=256, 2 layers, FP32.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4434840"/>
            <a:ext cx="3840480" cy="1371600"/>
          </a:xfrm>
          <a:prstGeom prst="rect">
            <a:avLst/>
          </a:prstGeom>
          <a:solidFill>
            <a:srgbClr val="E8F0FE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t>Power Efficiency (estimated)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Platform         Power    Perf       Eff. (est.)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i5-10500H CPU    45W      278 G/s      6.2 G/s/W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RTX 4080        320W    7,783 G/s     24.3 G/s/W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Accel+ (est.)  ~11.5W   8,192 G/s   ~712  G/s/W</a:t>
            </a:r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endParaRPr/>
          </a:p>
          <a:p>
            <a:pPr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t>Power est. from component analysis, not synthesis.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51960" y="3051441"/>
            <a:ext cx="3960925" cy="339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A5C"/>
                </a:solidFill>
              </a:defRPr>
            </a:pPr>
            <a:r>
              <a:rPr dirty="0"/>
              <a:t>Fused Datapath: Tile Flow Through Systolic Array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endParaRPr dirty="0"/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SRAM                  Systolic Array              SRAM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─────                 ──────────────              ─────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┌──────────────────┐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Tile A (64x64) ──&gt;│                  │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│  64x64 MAC grid  │──&gt; partial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Tile B (64x64) ──&gt;│  (tiled GEMM)    │    sums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└────────┬─────────┘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         │ (in registers, NOT to SRAM)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         v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┌──────────────────┐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│ Fused Activation  │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│ MUX: GELU|GELU'  │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│      |</a:t>
            </a:r>
            <a:r>
              <a:rPr dirty="0" err="1"/>
              <a:t>softmax</a:t>
            </a:r>
            <a:r>
              <a:rPr dirty="0"/>
              <a:t>    │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└────────┬─────────┘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         │ (still in registers)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         v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┌──────────────────┐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│  Next tiled GEMM  │──&gt; final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│  (reuses array)   │    output ──&gt; SRAM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                   └──────────────────┘</a:t>
            </a:r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endParaRPr dirty="0"/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Memory avoided: intermediate tensors (</a:t>
            </a:r>
            <a:r>
              <a:rPr dirty="0" err="1"/>
              <a:t>dh_act</a:t>
            </a:r>
            <a:r>
              <a:rPr dirty="0"/>
              <a:t>, </a:t>
            </a:r>
            <a:r>
              <a:rPr dirty="0" err="1"/>
              <a:t>gelu_grad</a:t>
            </a:r>
            <a:endParaRPr dirty="0"/>
          </a:p>
          <a:p>
            <a:pPr>
              <a:spcAft>
                <a:spcPts val="0"/>
              </a:spcAft>
              <a:defRPr sz="850">
                <a:solidFill>
                  <a:srgbClr val="554433"/>
                </a:solidFill>
                <a:latin typeface="Consolas"/>
              </a:defRPr>
            </a:pPr>
            <a:r>
              <a:rPr dirty="0"/>
              <a:t> result, scores, attn) never written to / read from SRAM.</a:t>
            </a:r>
          </a:p>
        </p:txBody>
      </p:sp>
      <p:pic>
        <p:nvPicPr>
          <p:cNvPr id="8" name="Picture 7" descr="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777240"/>
            <a:ext cx="3657600" cy="25603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66760" y="3337560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i="1">
                <a:solidFill>
                  <a:srgbClr val="666666"/>
                </a:solidFill>
              </a:defRPr>
            </a:pPr>
            <a:r>
              <a:t>FP32 Roofline: ff_backward + attention on all platforms (roofline model)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03622" y="748726"/>
            <a:ext cx="3657600" cy="221447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A5C"/>
                </a:solidFill>
              </a:defRPr>
            </a:pPr>
            <a:r>
              <a:rPr dirty="0"/>
              <a:t>Chiplet Architecture (building block)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endParaRPr dirty="0"/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Host CPU (i5-10500H)    ← 20% of workload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   |  UCIe x16 (8 GB/s </a:t>
            </a:r>
            <a:r>
              <a:rPr dirty="0" err="1"/>
              <a:t>bidir</a:t>
            </a:r>
            <a:r>
              <a:rPr dirty="0"/>
              <a:t>)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   v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+───── Accelerator+ Chiplet ──────+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           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64x64 Systolic Array @ 500 MHz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4,096 MACs, tiled GEMM engine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        |  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 [MUX: GELU|GELU'|softmax]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 Fused at output stage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           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SRAM Scratchpad (512 GB/s)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│  ~11.5W est.                    │</a:t>
            </a:r>
          </a:p>
          <a:p>
            <a:pPr algn="l">
              <a:spcAft>
                <a:spcPts val="0"/>
              </a:spcAft>
              <a:defRPr sz="800">
                <a:solidFill>
                  <a:srgbClr val="333333"/>
                </a:solidFill>
                <a:latin typeface="Consolas"/>
              </a:defRPr>
            </a:pPr>
            <a:r>
              <a:rPr dirty="0"/>
              <a:t>  +─────────────────────────────────+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FFFFF"/>
                </a:solidFill>
              </a:defRPr>
            </a:pPr>
            <a:r>
              <a:t>Dataflow fusion across FFN + attention sublayers  |  AI: 10.86 → 35.4 (mem→compute bound)  |  ~80% coverage, 3.6x Amdahl's  |  Chiplet building block, scalable via UCIe mesh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54FE5-8E75-A800-C4E8-28EBB4D31E79}"/>
              </a:ext>
            </a:extLst>
          </p:cNvPr>
          <p:cNvSpPr txBox="1"/>
          <p:nvPr/>
        </p:nvSpPr>
        <p:spPr>
          <a:xfrm>
            <a:off x="182880" y="7772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1">
                <a:solidFill>
                  <a:srgbClr val="1B3A5C"/>
                </a:solidFill>
              </a:defRPr>
            </a:pPr>
            <a:r>
              <a:rPr dirty="0"/>
              <a:t>The Approach: Fuse &amp; Accelerate 80% of Training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Accelerated: </a:t>
            </a:r>
            <a:r>
              <a:rPr dirty="0" err="1"/>
              <a:t>ff_backward</a:t>
            </a:r>
            <a:r>
              <a:rPr dirty="0"/>
              <a:t> (32.5%) + </a:t>
            </a:r>
            <a:r>
              <a:rPr dirty="0" err="1"/>
              <a:t>ff_forward</a:t>
            </a:r>
            <a:r>
              <a:rPr dirty="0"/>
              <a:t> (23.5%) + attention (24.8%)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Combined: 80% of training runtime on hardware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 err="1"/>
              <a:t>ff_forward</a:t>
            </a:r>
            <a:r>
              <a:rPr dirty="0"/>
              <a:t> reuses same systolic array + </a:t>
            </a:r>
            <a:r>
              <a:rPr dirty="0" err="1"/>
              <a:t>gelu</a:t>
            </a:r>
            <a:r>
              <a:rPr dirty="0"/>
              <a:t> circuit (zero extra area)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/>
              <a:t>Operator fusion eliminates intermediate memory traffic</a:t>
            </a:r>
          </a:p>
          <a:p>
            <a:pPr>
              <a:spcAft>
                <a:spcPts val="100"/>
              </a:spcAft>
              <a:defRPr sz="900">
                <a:solidFill>
                  <a:srgbClr val="333333"/>
                </a:solidFill>
              </a:defRPr>
            </a:pPr>
            <a:r>
              <a:rPr dirty="0" err="1"/>
              <a:t>ff_backward</a:t>
            </a:r>
            <a:r>
              <a:rPr dirty="0"/>
              <a:t> fused AI: 10.86 → 35.4 | attn fused AI: 20.1 → 116.1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1474</TotalTime>
  <Words>615</Words>
  <Application>Microsoft Office PowerPoint</Application>
  <PresentationFormat>Widescreen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David Boss</cp:lastModifiedBy>
  <cp:revision>1</cp:revision>
  <dcterms:created xsi:type="dcterms:W3CDTF">2013-01-27T09:14:16Z</dcterms:created>
  <dcterms:modified xsi:type="dcterms:W3CDTF">2026-04-22T02:34:04Z</dcterms:modified>
  <cp:category/>
</cp:coreProperties>
</file>