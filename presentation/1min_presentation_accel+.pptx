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EE6A1F-90C5-4209-95B2-0EC47C9B0E9D}" v="4" dt="2026-04-22T22:42:44.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613" autoAdjust="0"/>
  </p:normalViewPr>
  <p:slideViewPr>
    <p:cSldViewPr snapToGrid="0" snapToObjects="1">
      <p:cViewPr varScale="1">
        <p:scale>
          <a:sx n="48" d="100"/>
          <a:sy n="48" d="100"/>
        </p:scale>
        <p:origin x="62" y="2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Boss" userId="ef535d061326e637" providerId="LiveId" clId="{12F18373-19B8-47C5-BAE5-4B7354C3B846}"/>
    <pc:docChg chg="custSel modSld">
      <pc:chgData name="David Boss" userId="ef535d061326e637" providerId="LiveId" clId="{12F18373-19B8-47C5-BAE5-4B7354C3B846}" dt="2026-04-22T22:43:25.611" v="1836" actId="20577"/>
      <pc:docMkLst>
        <pc:docMk/>
      </pc:docMkLst>
      <pc:sldChg chg="modSp mod modNotesTx">
        <pc:chgData name="David Boss" userId="ef535d061326e637" providerId="LiveId" clId="{12F18373-19B8-47C5-BAE5-4B7354C3B846}" dt="2026-04-22T22:43:25.611" v="1836" actId="20577"/>
        <pc:sldMkLst>
          <pc:docMk/>
          <pc:sldMk cId="0" sldId="256"/>
        </pc:sldMkLst>
        <pc:spChg chg="mod">
          <ac:chgData name="David Boss" userId="ef535d061326e637" providerId="LiveId" clId="{12F18373-19B8-47C5-BAE5-4B7354C3B846}" dt="2026-04-22T22:43:25.611" v="1836" actId="20577"/>
          <ac:spMkLst>
            <pc:docMk/>
            <pc:sldMk cId="0"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EB5BF7-0CDB-49C2-A3D2-7150FE0BCF1A}"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F59C0-F099-426D-A231-A0CB9216F4DC}" type="slidenum">
              <a:rPr lang="en-US" smtClean="0"/>
              <a:t>‹#›</a:t>
            </a:fld>
            <a:endParaRPr lang="en-US"/>
          </a:p>
        </p:txBody>
      </p:sp>
    </p:spTree>
    <p:extLst>
      <p:ext uri="{BB962C8B-B14F-4D97-AF65-F5344CB8AC3E}">
        <p14:creationId xmlns:p14="http://schemas.microsoft.com/office/powerpoint/2010/main" val="3955470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chiplet will accelerate the transformer algorithm that was provided. The </a:t>
            </a:r>
            <a:r>
              <a:rPr lang="en-US" dirty="0" err="1"/>
              <a:t>ff_backward</a:t>
            </a:r>
            <a:r>
              <a:rPr lang="en-US" dirty="0"/>
              <a:t> was the most runtime intensive </a:t>
            </a:r>
            <a:r>
              <a:rPr lang="en-US" dirty="0" err="1"/>
              <a:t>kernal</a:t>
            </a:r>
            <a:r>
              <a:rPr lang="en-US" dirty="0"/>
              <a:t> at 32.5% of runtime, so that initially chosen as the </a:t>
            </a:r>
            <a:r>
              <a:rPr lang="en-US" dirty="0" err="1"/>
              <a:t>kernal</a:t>
            </a:r>
            <a:r>
              <a:rPr lang="en-US" dirty="0"/>
              <a:t> to be accelerated. However, I noticed the </a:t>
            </a:r>
            <a:r>
              <a:rPr lang="en-US" dirty="0" err="1"/>
              <a:t>ff_forward</a:t>
            </a:r>
            <a:r>
              <a:rPr lang="en-US" dirty="0"/>
              <a:t> and attention </a:t>
            </a:r>
            <a:r>
              <a:rPr lang="en-US" dirty="0" err="1"/>
              <a:t>kernals</a:t>
            </a:r>
            <a:r>
              <a:rPr lang="en-US" dirty="0"/>
              <a:t> could be also be implemented with extremely minimal additions to hardware, so the chiplet will also accelerate those </a:t>
            </a:r>
            <a:r>
              <a:rPr lang="en-US" dirty="0" err="1"/>
              <a:t>kernals</a:t>
            </a:r>
            <a:r>
              <a:rPr lang="en-US" dirty="0"/>
              <a:t>. This means over 80% of the original runtime will be accelerated by this chiplet.</a:t>
            </a:r>
          </a:p>
          <a:p>
            <a:endParaRPr lang="en-US" dirty="0"/>
          </a:p>
          <a:p>
            <a:r>
              <a:rPr lang="en-US" dirty="0"/>
              <a:t>The main hardware in this chiplet is the systolic array, which is 4000 MAC units used for matrix multiplication. This is by far the most dominant feature area wise, all the other components take a fraction of a percent of the area consumed by the systolic array. Gelu is for ff, </a:t>
            </a:r>
            <a:r>
              <a:rPr lang="en-US" dirty="0" err="1"/>
              <a:t>softmax</a:t>
            </a:r>
            <a:r>
              <a:rPr lang="en-US" dirty="0"/>
              <a:t> is for attention. LUTs will be used for non-linear portions of </a:t>
            </a:r>
            <a:r>
              <a:rPr lang="en-US" dirty="0" err="1"/>
              <a:t>gelu</a:t>
            </a:r>
            <a:r>
              <a:rPr lang="en-US" dirty="0"/>
              <a:t> and </a:t>
            </a:r>
            <a:r>
              <a:rPr lang="en-US" dirty="0" err="1"/>
              <a:t>softmax</a:t>
            </a:r>
            <a:r>
              <a:rPr lang="en-US" dirty="0"/>
              <a:t>; other operations will be implemented with multipliers, dividers, and comparators. </a:t>
            </a:r>
            <a:br>
              <a:rPr lang="en-US" dirty="0"/>
            </a:br>
            <a:br>
              <a:rPr lang="en-US" dirty="0"/>
            </a:br>
            <a:r>
              <a:rPr lang="en-US" dirty="0"/>
              <a:t>The original accelerator implemented this hardware with FSM sequencing to SRAM between stages. The improved accelerator (accelerator +) uses pipeline registers with handshake control between stages, which is called fusion. This keeps intermediate values in pipeline registers. Fusion allows the accelerator to move from memory-bound to compute-bound.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9EF59C0-F099-426D-A231-A0CB9216F4DC}" type="slidenum">
              <a:rPr lang="en-US" smtClean="0"/>
              <a:t>1</a:t>
            </a:fld>
            <a:endParaRPr lang="en-US"/>
          </a:p>
        </p:txBody>
      </p:sp>
    </p:spTree>
    <p:extLst>
      <p:ext uri="{BB962C8B-B14F-4D97-AF65-F5344CB8AC3E}">
        <p14:creationId xmlns:p14="http://schemas.microsoft.com/office/powerpoint/2010/main" val="200910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defRPr>
            </a:pPr>
            <a:r>
              <a:rPr lang="en-US" dirty="0"/>
              <a:t>Dataflow-Fused Transformer Training </a:t>
            </a:r>
            <a:r>
              <a:rPr lang="en-US"/>
              <a:t>Accelerator Chiplet</a:t>
            </a:r>
            <a:endParaRPr dirty="0"/>
          </a:p>
          <a:p>
            <a:pPr algn="ctr">
              <a:defRPr sz="1200">
                <a:solidFill>
                  <a:srgbClr val="CCCCCC"/>
                </a:solidFill>
              </a:defRPr>
            </a:pPr>
            <a:r>
              <a:rPr dirty="0"/>
              <a:t>ECE 510 - HW4AI  |  Spring 2026  |  David Boss</a:t>
            </a:r>
          </a:p>
        </p:txBody>
      </p:sp>
      <p:sp>
        <p:nvSpPr>
          <p:cNvPr id="3" name="TextBox 2"/>
          <p:cNvSpPr txBox="1"/>
          <p:nvPr/>
        </p:nvSpPr>
        <p:spPr>
          <a:xfrm>
            <a:off x="182880" y="777240"/>
            <a:ext cx="3840480" cy="914400"/>
          </a:xfrm>
          <a:prstGeom prst="rect">
            <a:avLst/>
          </a:prstGeom>
          <a:noFill/>
        </p:spPr>
        <p:txBody>
          <a:bodyPr wrap="square">
            <a:spAutoFit/>
          </a:bodyPr>
          <a:lstStyle/>
          <a:p>
            <a:pPr>
              <a:spcAft>
                <a:spcPts val="300"/>
              </a:spcAft>
              <a:defRPr sz="1300" b="1">
                <a:solidFill>
                  <a:srgbClr val="1B3A5C"/>
                </a:solidFill>
              </a:defRPr>
            </a:pPr>
            <a:r>
              <a:rPr dirty="0"/>
              <a:t>The Approach: Fuse &amp; Accelerate 80% of Training</a:t>
            </a:r>
          </a:p>
          <a:p>
            <a:pPr>
              <a:spcAft>
                <a:spcPts val="100"/>
              </a:spcAft>
              <a:defRPr sz="900">
                <a:solidFill>
                  <a:srgbClr val="333333"/>
                </a:solidFill>
              </a:defRPr>
            </a:pPr>
            <a:r>
              <a:rPr dirty="0"/>
              <a:t>Accelerated: </a:t>
            </a:r>
            <a:r>
              <a:rPr dirty="0" err="1"/>
              <a:t>ff_backward</a:t>
            </a:r>
            <a:r>
              <a:rPr dirty="0"/>
              <a:t> (32.5%) + </a:t>
            </a:r>
            <a:r>
              <a:rPr dirty="0" err="1"/>
              <a:t>ff_forward</a:t>
            </a:r>
            <a:r>
              <a:rPr dirty="0"/>
              <a:t> (23.5%) + attention (24.8%)</a:t>
            </a:r>
          </a:p>
          <a:p>
            <a:pPr>
              <a:spcAft>
                <a:spcPts val="100"/>
              </a:spcAft>
              <a:defRPr sz="900">
                <a:solidFill>
                  <a:srgbClr val="333333"/>
                </a:solidFill>
              </a:defRPr>
            </a:pPr>
            <a:r>
              <a:rPr dirty="0"/>
              <a:t>Combined: 80% of training runtime on hardware</a:t>
            </a:r>
          </a:p>
          <a:p>
            <a:pPr>
              <a:spcAft>
                <a:spcPts val="100"/>
              </a:spcAft>
              <a:defRPr sz="900">
                <a:solidFill>
                  <a:srgbClr val="333333"/>
                </a:solidFill>
              </a:defRPr>
            </a:pPr>
            <a:r>
              <a:rPr dirty="0" err="1"/>
              <a:t>ff_forward</a:t>
            </a:r>
            <a:r>
              <a:rPr dirty="0"/>
              <a:t> reuses same systolic array + </a:t>
            </a:r>
            <a:r>
              <a:rPr dirty="0" err="1"/>
              <a:t>gelu</a:t>
            </a:r>
            <a:r>
              <a:rPr dirty="0"/>
              <a:t> circuit (zero extra area)</a:t>
            </a:r>
          </a:p>
          <a:p>
            <a:pPr>
              <a:spcAft>
                <a:spcPts val="100"/>
              </a:spcAft>
              <a:defRPr sz="900">
                <a:solidFill>
                  <a:srgbClr val="333333"/>
                </a:solidFill>
              </a:defRPr>
            </a:pPr>
            <a:r>
              <a:rPr dirty="0"/>
              <a:t>Operator fusion eliminates intermediate memory traffic</a:t>
            </a:r>
          </a:p>
          <a:p>
            <a:pPr>
              <a:spcAft>
                <a:spcPts val="100"/>
              </a:spcAft>
              <a:defRPr sz="900">
                <a:solidFill>
                  <a:srgbClr val="333333"/>
                </a:solidFill>
              </a:defRPr>
            </a:pPr>
            <a:r>
              <a:rPr dirty="0" err="1"/>
              <a:t>ff_backward</a:t>
            </a:r>
            <a:r>
              <a:rPr dirty="0"/>
              <a:t> fused AI: 10.86 → 35.4 | attn fused AI: 20.1 → 116.1</a:t>
            </a:r>
          </a:p>
        </p:txBody>
      </p:sp>
      <p:sp>
        <p:nvSpPr>
          <p:cNvPr id="4" name="Rectangle 3"/>
          <p:cNvSpPr/>
          <p:nvPr/>
        </p:nvSpPr>
        <p:spPr>
          <a:xfrm>
            <a:off x="182880" y="1874519"/>
            <a:ext cx="3840480" cy="2560320"/>
          </a:xfrm>
          <a:prstGeom prst="rect">
            <a:avLst/>
          </a:prstGeom>
          <a:solidFill>
            <a:srgbClr val="FFFFFF"/>
          </a:solidFill>
          <a:ln w="12700">
            <a:solidFill>
              <a:srgbClr val="1B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B3A5C"/>
                </a:solidFill>
              </a:defRPr>
            </a:pPr>
            <a:r>
              <a:t>FP32 Performance Comparison (ff_backward)</a:t>
            </a:r>
          </a:p>
          <a:p>
            <a:pPr>
              <a:spcAft>
                <a:spcPts val="0"/>
              </a:spcAft>
              <a:defRPr sz="850">
                <a:solidFill>
                  <a:srgbClr val="333333"/>
                </a:solidFill>
                <a:latin typeface="Consolas"/>
              </a:defRPr>
            </a:pPr>
            <a:r>
              <a:t>Platform           Peak      BW        Attain.   Status</a:t>
            </a:r>
          </a:p>
          <a:p>
            <a:pPr>
              <a:spcAft>
                <a:spcPts val="0"/>
              </a:spcAft>
              <a:defRPr sz="850">
                <a:solidFill>
                  <a:srgbClr val="333333"/>
                </a:solidFill>
                <a:latin typeface="Consolas"/>
              </a:defRPr>
            </a:pPr>
            <a:r>
              <a:t>──────────────────────────────────────────────────────────</a:t>
            </a:r>
          </a:p>
          <a:p>
            <a:pPr>
              <a:spcAft>
                <a:spcPts val="0"/>
              </a:spcAft>
              <a:defRPr sz="850">
                <a:solidFill>
                  <a:srgbClr val="333333"/>
                </a:solidFill>
                <a:latin typeface="Consolas"/>
              </a:defRPr>
            </a:pPr>
            <a:r>
              <a:t>i5-10500H CPU      864G      25.6 GB/s    278 G/s   mem-bound</a:t>
            </a:r>
          </a:p>
          <a:p>
            <a:pPr>
              <a:spcAft>
                <a:spcPts val="0"/>
              </a:spcAft>
              <a:defRPr sz="850">
                <a:solidFill>
                  <a:srgbClr val="333333"/>
                </a:solidFill>
                <a:latin typeface="Consolas"/>
              </a:defRPr>
            </a:pPr>
            <a:r>
              <a:t>RTX 3050 Ti GPU   5.3T     192 GB/s   2,085 G/s   mem-bound</a:t>
            </a:r>
          </a:p>
          <a:p>
            <a:pPr>
              <a:spcAft>
                <a:spcPts val="0"/>
              </a:spcAft>
              <a:defRPr sz="850">
                <a:solidFill>
                  <a:srgbClr val="333333"/>
                </a:solidFill>
                <a:latin typeface="Consolas"/>
              </a:defRPr>
            </a:pPr>
            <a:r>
              <a:t>RTX 4080 GPU     48.7T     717 GB/s   7,783 G/s   mem-bound</a:t>
            </a:r>
          </a:p>
          <a:p>
            <a:pPr>
              <a:spcAft>
                <a:spcPts val="0"/>
              </a:spcAft>
              <a:defRPr sz="850">
                <a:solidFill>
                  <a:srgbClr val="333333"/>
                </a:solidFill>
                <a:latin typeface="Consolas"/>
              </a:defRPr>
            </a:pPr>
            <a:r>
              <a:t>Accel+ (fused)    8.2T     512 GB/s   8,192 G/s   COMP-BOUND</a:t>
            </a:r>
          </a:p>
          <a:p>
            <a:pPr>
              <a:spcAft>
                <a:spcPts val="0"/>
              </a:spcAft>
              <a:defRPr sz="850">
                <a:solidFill>
                  <a:srgbClr val="333333"/>
                </a:solidFill>
                <a:latin typeface="Consolas"/>
              </a:defRPr>
            </a:pPr>
            <a:endParaRPr/>
          </a:p>
          <a:p>
            <a:pPr>
              <a:spcAft>
                <a:spcPts val="0"/>
              </a:spcAft>
              <a:defRPr sz="850">
                <a:solidFill>
                  <a:srgbClr val="333333"/>
                </a:solidFill>
                <a:latin typeface="Consolas"/>
              </a:defRPr>
            </a:pPr>
            <a:r>
              <a:t>Fusion shifts AI from 10.86 → 35.4 FLOP/B, crossing the</a:t>
            </a:r>
          </a:p>
          <a:p>
            <a:pPr>
              <a:spcAft>
                <a:spcPts val="0"/>
              </a:spcAft>
              <a:defRPr sz="850">
                <a:solidFill>
                  <a:srgbClr val="333333"/>
                </a:solidFill>
                <a:latin typeface="Consolas"/>
              </a:defRPr>
            </a:pPr>
            <a:r>
              <a:t>ridge point (16.0). Accel+ becomes COMPUTE-BOUND, hitting</a:t>
            </a:r>
          </a:p>
          <a:p>
            <a:pPr>
              <a:spcAft>
                <a:spcPts val="0"/>
              </a:spcAft>
              <a:defRPr sz="850">
                <a:solidFill>
                  <a:srgbClr val="333333"/>
                </a:solidFill>
                <a:latin typeface="Consolas"/>
              </a:defRPr>
            </a:pPr>
            <a:r>
              <a:t>the full 8.2 TFLOP/s peak — beating even the RTX 4080.</a:t>
            </a:r>
          </a:p>
        </p:txBody>
      </p:sp>
      <p:sp>
        <p:nvSpPr>
          <p:cNvPr id="5" name="Rectangle 4"/>
          <p:cNvSpPr/>
          <p:nvPr/>
        </p:nvSpPr>
        <p:spPr>
          <a:xfrm>
            <a:off x="182880" y="4572000"/>
            <a:ext cx="3840480" cy="1280160"/>
          </a:xfrm>
          <a:prstGeom prst="rect">
            <a:avLst/>
          </a:prstGeom>
          <a:solidFill>
            <a:srgbClr val="E8F0FE"/>
          </a:solidFill>
          <a:ln w="12700">
            <a:solidFill>
              <a:srgbClr val="1B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B3A5C"/>
                </a:solidFill>
              </a:defRPr>
            </a:pPr>
            <a:r>
              <a:t>Power &amp; Efficiency</a:t>
            </a:r>
          </a:p>
          <a:p>
            <a:pPr>
              <a:spcAft>
                <a:spcPts val="0"/>
              </a:spcAft>
              <a:defRPr sz="850">
                <a:solidFill>
                  <a:srgbClr val="333333"/>
                </a:solidFill>
                <a:latin typeface="Consolas"/>
              </a:defRPr>
            </a:pPr>
            <a:r>
              <a:t>Platform         Power    Perf       Efficiency</a:t>
            </a:r>
          </a:p>
          <a:p>
            <a:pPr>
              <a:spcAft>
                <a:spcPts val="0"/>
              </a:spcAft>
              <a:defRPr sz="850">
                <a:solidFill>
                  <a:srgbClr val="333333"/>
                </a:solidFill>
                <a:latin typeface="Consolas"/>
              </a:defRPr>
            </a:pPr>
            <a:r>
              <a:t>─────────────────────────────────────────────────</a:t>
            </a:r>
          </a:p>
          <a:p>
            <a:pPr>
              <a:spcAft>
                <a:spcPts val="0"/>
              </a:spcAft>
              <a:defRPr sz="850">
                <a:solidFill>
                  <a:srgbClr val="333333"/>
                </a:solidFill>
                <a:latin typeface="Consolas"/>
              </a:defRPr>
            </a:pPr>
            <a:r>
              <a:t>i5-10500H CPU    45W      278 G/s      6.2 GFLOP/s/W</a:t>
            </a:r>
          </a:p>
          <a:p>
            <a:pPr>
              <a:spcAft>
                <a:spcPts val="0"/>
              </a:spcAft>
              <a:defRPr sz="850">
                <a:solidFill>
                  <a:srgbClr val="333333"/>
                </a:solidFill>
                <a:latin typeface="Consolas"/>
              </a:defRPr>
            </a:pPr>
            <a:r>
              <a:t>RTX 4080        320W    7,783 G/s     24.3 GFLOP/s/W</a:t>
            </a:r>
          </a:p>
          <a:p>
            <a:pPr>
              <a:spcAft>
                <a:spcPts val="0"/>
              </a:spcAft>
              <a:defRPr sz="850">
                <a:solidFill>
                  <a:srgbClr val="333333"/>
                </a:solidFill>
                <a:latin typeface="Consolas"/>
              </a:defRPr>
            </a:pPr>
            <a:r>
              <a:t>Accel+         ~11.5W   8,192 G/s    712.3 GFLOP/s/W</a:t>
            </a:r>
          </a:p>
          <a:p>
            <a:pPr>
              <a:spcAft>
                <a:spcPts val="0"/>
              </a:spcAft>
              <a:defRPr sz="850">
                <a:solidFill>
                  <a:srgbClr val="333333"/>
                </a:solidFill>
                <a:latin typeface="Consolas"/>
              </a:defRPr>
            </a:pPr>
            <a:endParaRPr/>
          </a:p>
          <a:p>
            <a:pPr>
              <a:spcAft>
                <a:spcPts val="0"/>
              </a:spcAft>
              <a:defRPr sz="850">
                <a:solidFill>
                  <a:srgbClr val="333333"/>
                </a:solidFill>
                <a:latin typeface="Consolas"/>
              </a:defRPr>
            </a:pPr>
            <a:r>
              <a:t>Accel+: beats 4080 at 1/28 power → 29x efficiency</a:t>
            </a:r>
          </a:p>
        </p:txBody>
      </p:sp>
      <p:sp>
        <p:nvSpPr>
          <p:cNvPr id="6" name="Rectangle 5"/>
          <p:cNvSpPr/>
          <p:nvPr/>
        </p:nvSpPr>
        <p:spPr>
          <a:xfrm>
            <a:off x="4297680" y="777240"/>
            <a:ext cx="3840480" cy="2743200"/>
          </a:xfrm>
          <a:prstGeom prst="rect">
            <a:avLst/>
          </a:prstGeom>
          <a:solidFill>
            <a:srgbClr val="FFFFFF"/>
          </a:solidFill>
          <a:ln w="12700">
            <a:solidFill>
              <a:srgbClr val="1B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B3A5C"/>
                </a:solidFill>
              </a:defRPr>
            </a:pPr>
            <a:r>
              <a:rPr dirty="0"/>
              <a:t>Python → Hardware Translation</a:t>
            </a:r>
          </a:p>
          <a:p>
            <a:pPr>
              <a:spcAft>
                <a:spcPts val="0"/>
              </a:spcAft>
              <a:defRPr sz="850">
                <a:solidFill>
                  <a:srgbClr val="333333"/>
                </a:solidFill>
                <a:latin typeface="Consolas"/>
              </a:defRPr>
            </a:pPr>
            <a:r>
              <a:rPr dirty="0"/>
              <a:t>Python Concept         Hardware Equivalent</a:t>
            </a:r>
          </a:p>
          <a:p>
            <a:pPr>
              <a:spcAft>
                <a:spcPts val="0"/>
              </a:spcAft>
              <a:defRPr sz="850">
                <a:solidFill>
                  <a:srgbClr val="333333"/>
                </a:solidFill>
                <a:latin typeface="Consolas"/>
              </a:defRPr>
            </a:pPr>
            <a:r>
              <a:rPr dirty="0"/>
              <a:t>──────────────────────────────────────────────</a:t>
            </a:r>
          </a:p>
          <a:p>
            <a:pPr>
              <a:spcAft>
                <a:spcPts val="0"/>
              </a:spcAft>
              <a:defRPr sz="850">
                <a:solidFill>
                  <a:srgbClr val="333333"/>
                </a:solidFill>
                <a:latin typeface="Consolas"/>
              </a:defRPr>
            </a:pPr>
            <a:r>
              <a:rPr dirty="0"/>
              <a:t>@ (</a:t>
            </a:r>
            <a:r>
              <a:rPr dirty="0" err="1"/>
              <a:t>matmul</a:t>
            </a:r>
            <a:r>
              <a:rPr dirty="0"/>
              <a:t>)             64x64 systolic array (4096 MACs)</a:t>
            </a:r>
          </a:p>
          <a:p>
            <a:pPr>
              <a:spcAft>
                <a:spcPts val="0"/>
              </a:spcAft>
              <a:defRPr sz="850">
                <a:solidFill>
                  <a:srgbClr val="333333"/>
                </a:solidFill>
                <a:latin typeface="Consolas"/>
              </a:defRPr>
            </a:pPr>
            <a:r>
              <a:rPr dirty="0" err="1"/>
              <a:t>gelu_grad</a:t>
            </a:r>
            <a:r>
              <a:rPr dirty="0"/>
              <a:t>()            Pipelined LUT + multipliers</a:t>
            </a:r>
          </a:p>
          <a:p>
            <a:pPr>
              <a:spcAft>
                <a:spcPts val="0"/>
              </a:spcAft>
              <a:defRPr sz="850">
                <a:solidFill>
                  <a:srgbClr val="333333"/>
                </a:solidFill>
                <a:latin typeface="Consolas"/>
              </a:defRPr>
            </a:pPr>
            <a:r>
              <a:rPr dirty="0" err="1"/>
              <a:t>softmax</a:t>
            </a:r>
            <a:r>
              <a:rPr dirty="0"/>
              <a:t>()              Exp LUT + divider + comparators</a:t>
            </a:r>
          </a:p>
          <a:p>
            <a:pPr>
              <a:spcAft>
                <a:spcPts val="0"/>
              </a:spcAft>
              <a:defRPr sz="850">
                <a:solidFill>
                  <a:srgbClr val="333333"/>
                </a:solidFill>
                <a:latin typeface="Consolas"/>
              </a:defRPr>
            </a:pPr>
            <a:r>
              <a:rPr dirty="0"/>
              <a:t>* (elementwise)        Single-cycle multiplier</a:t>
            </a:r>
          </a:p>
          <a:p>
            <a:pPr>
              <a:spcAft>
                <a:spcPts val="0"/>
              </a:spcAft>
              <a:defRPr sz="850">
                <a:solidFill>
                  <a:srgbClr val="333333"/>
                </a:solidFill>
                <a:latin typeface="Consolas"/>
              </a:defRPr>
            </a:pPr>
            <a:r>
              <a:rPr dirty="0"/>
              <a:t>.sum() (reduction)     Adder tree</a:t>
            </a:r>
          </a:p>
          <a:p>
            <a:pPr>
              <a:spcAft>
                <a:spcPts val="0"/>
              </a:spcAft>
              <a:defRPr sz="850">
                <a:solidFill>
                  <a:srgbClr val="333333"/>
                </a:solidFill>
                <a:latin typeface="Consolas"/>
              </a:defRPr>
            </a:pPr>
            <a:r>
              <a:rPr dirty="0"/>
              <a:t>Variable assignment    SRAM read/write (512 GB/s)</a:t>
            </a:r>
          </a:p>
          <a:p>
            <a:pPr>
              <a:spcAft>
                <a:spcPts val="0"/>
              </a:spcAft>
              <a:defRPr sz="850">
                <a:solidFill>
                  <a:srgbClr val="333333"/>
                </a:solidFill>
                <a:latin typeface="Consolas"/>
              </a:defRPr>
            </a:pPr>
            <a:r>
              <a:rPr dirty="0"/>
              <a:t>Function call order    FSM state transitions (~25 states)</a:t>
            </a:r>
          </a:p>
          <a:p>
            <a:pPr>
              <a:spcAft>
                <a:spcPts val="0"/>
              </a:spcAft>
              <a:defRPr sz="850">
                <a:solidFill>
                  <a:srgbClr val="333333"/>
                </a:solidFill>
                <a:latin typeface="Consolas"/>
              </a:defRPr>
            </a:pPr>
            <a:endParaRPr dirty="0"/>
          </a:p>
          <a:p>
            <a:pPr>
              <a:spcAft>
                <a:spcPts val="0"/>
              </a:spcAft>
              <a:defRPr sz="850">
                <a:solidFill>
                  <a:srgbClr val="333333"/>
                </a:solidFill>
                <a:latin typeface="Consolas"/>
              </a:defRPr>
            </a:pPr>
            <a:r>
              <a:rPr dirty="0"/>
              <a:t>FUSION: intermediates never touch memory.</a:t>
            </a:r>
          </a:p>
          <a:p>
            <a:pPr>
              <a:spcAft>
                <a:spcPts val="0"/>
              </a:spcAft>
              <a:defRPr sz="850">
                <a:solidFill>
                  <a:srgbClr val="333333"/>
                </a:solidFill>
                <a:latin typeface="Consolas"/>
              </a:defRPr>
            </a:pPr>
            <a:r>
              <a:rPr dirty="0"/>
              <a:t>  systolic → [</a:t>
            </a:r>
            <a:r>
              <a:rPr dirty="0" err="1"/>
              <a:t>gelu_grad</a:t>
            </a:r>
            <a:r>
              <a:rPr dirty="0"/>
              <a:t>/</a:t>
            </a:r>
            <a:r>
              <a:rPr dirty="0" err="1"/>
              <a:t>softmax</a:t>
            </a:r>
            <a:r>
              <a:rPr dirty="0"/>
              <a:t>] → systolic</a:t>
            </a:r>
          </a:p>
          <a:p>
            <a:pPr>
              <a:spcAft>
                <a:spcPts val="0"/>
              </a:spcAft>
              <a:defRPr sz="850">
                <a:solidFill>
                  <a:srgbClr val="333333"/>
                </a:solidFill>
                <a:latin typeface="Consolas"/>
              </a:defRPr>
            </a:pPr>
            <a:r>
              <a:rPr dirty="0"/>
              <a:t>  Results flow through registers, not SRAM.</a:t>
            </a:r>
          </a:p>
          <a:p>
            <a:pPr>
              <a:spcAft>
                <a:spcPts val="0"/>
              </a:spcAft>
              <a:defRPr sz="850">
                <a:solidFill>
                  <a:srgbClr val="333333"/>
                </a:solidFill>
                <a:latin typeface="Consolas"/>
              </a:defRPr>
            </a:pPr>
            <a:r>
              <a:rPr dirty="0"/>
              <a:t>  Eliminates 69% of </a:t>
            </a:r>
            <a:r>
              <a:rPr dirty="0" err="1"/>
              <a:t>ff_bwd</a:t>
            </a:r>
            <a:r>
              <a:rPr dirty="0"/>
              <a:t> memory traffic</a:t>
            </a:r>
          </a:p>
          <a:p>
            <a:pPr>
              <a:spcAft>
                <a:spcPts val="0"/>
              </a:spcAft>
              <a:defRPr sz="850">
                <a:solidFill>
                  <a:srgbClr val="333333"/>
                </a:solidFill>
                <a:latin typeface="Consolas"/>
              </a:defRPr>
            </a:pPr>
            <a:r>
              <a:rPr dirty="0"/>
              <a:t>  Eliminates 83% of attention memory traffic</a:t>
            </a:r>
          </a:p>
        </p:txBody>
      </p:sp>
      <p:sp>
        <p:nvSpPr>
          <p:cNvPr id="7" name="Rectangle 6"/>
          <p:cNvSpPr/>
          <p:nvPr/>
        </p:nvSpPr>
        <p:spPr>
          <a:xfrm>
            <a:off x="4297680" y="3657600"/>
            <a:ext cx="3840480" cy="2194560"/>
          </a:xfrm>
          <a:prstGeom prst="rect">
            <a:avLst/>
          </a:prstGeom>
          <a:solidFill>
            <a:srgbClr val="FEF3E0"/>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C05C00"/>
                </a:solidFill>
              </a:defRPr>
            </a:pPr>
            <a:r>
              <a:t>Future Enhancements</a:t>
            </a:r>
          </a:p>
          <a:p>
            <a:pPr>
              <a:spcAft>
                <a:spcPts val="0"/>
              </a:spcAft>
              <a:defRPr sz="850">
                <a:solidFill>
                  <a:srgbClr val="554433"/>
                </a:solidFill>
                <a:latin typeface="Consolas"/>
              </a:defRPr>
            </a:pPr>
            <a:r>
              <a:t>1. Mixed-precision (FP16/BF16 accumulate to FP32)</a:t>
            </a:r>
          </a:p>
          <a:p>
            <a:pPr>
              <a:spcAft>
                <a:spcPts val="0"/>
              </a:spcAft>
              <a:defRPr sz="850">
                <a:solidFill>
                  <a:srgbClr val="554433"/>
                </a:solidFill>
                <a:latin typeface="Consolas"/>
              </a:defRPr>
            </a:pPr>
            <a:r>
              <a:t>   → 2x MACs per cycle, 2x effective bandwidth</a:t>
            </a:r>
          </a:p>
          <a:p>
            <a:pPr>
              <a:spcAft>
                <a:spcPts val="0"/>
              </a:spcAft>
              <a:defRPr sz="850">
                <a:solidFill>
                  <a:srgbClr val="554433"/>
                </a:solidFill>
                <a:latin typeface="Consolas"/>
              </a:defRPr>
            </a:pPr>
            <a:r>
              <a:t>   → Peak jumps to 16.4 TFLOP/s at same area/power</a:t>
            </a:r>
          </a:p>
          <a:p>
            <a:pPr>
              <a:spcAft>
                <a:spcPts val="0"/>
              </a:spcAft>
              <a:defRPr sz="850">
                <a:solidFill>
                  <a:srgbClr val="554433"/>
                </a:solidFill>
                <a:latin typeface="Consolas"/>
              </a:defRPr>
            </a:pPr>
            <a:endParaRPr/>
          </a:p>
          <a:p>
            <a:pPr>
              <a:spcAft>
                <a:spcPts val="0"/>
              </a:spcAft>
              <a:defRPr sz="850">
                <a:solidFill>
                  <a:srgbClr val="554433"/>
                </a:solidFill>
                <a:latin typeface="Consolas"/>
              </a:defRPr>
            </a:pPr>
            <a:r>
              <a:t>2. Accelerate layer_norm (~11% runtime)</a:t>
            </a:r>
          </a:p>
          <a:p>
            <a:pPr>
              <a:spcAft>
                <a:spcPts val="0"/>
              </a:spcAft>
              <a:defRPr sz="850">
                <a:solidFill>
                  <a:srgbClr val="554433"/>
                </a:solidFill>
                <a:latin typeface="Consolas"/>
              </a:defRPr>
            </a:pPr>
            <a:r>
              <a:t>   → Coverage: 80% → ~91%, Amdahl's: 3.6x → 5.3x</a:t>
            </a:r>
          </a:p>
          <a:p>
            <a:pPr>
              <a:spcAft>
                <a:spcPts val="0"/>
              </a:spcAft>
              <a:defRPr sz="850">
                <a:solidFill>
                  <a:srgbClr val="554433"/>
                </a:solidFill>
                <a:latin typeface="Consolas"/>
              </a:defRPr>
            </a:pPr>
            <a:endParaRPr/>
          </a:p>
          <a:p>
            <a:pPr>
              <a:spcAft>
                <a:spcPts val="0"/>
              </a:spcAft>
              <a:defRPr sz="850">
                <a:solidFill>
                  <a:srgbClr val="554433"/>
                </a:solidFill>
                <a:latin typeface="Consolas"/>
              </a:defRPr>
            </a:pPr>
            <a:r>
              <a:t>3. Double-buffered SRAM for overlapping compute + DMA</a:t>
            </a:r>
          </a:p>
          <a:p>
            <a:pPr>
              <a:spcAft>
                <a:spcPts val="0"/>
              </a:spcAft>
              <a:defRPr sz="850">
                <a:solidFill>
                  <a:srgbClr val="554433"/>
                </a:solidFill>
                <a:latin typeface="Consolas"/>
              </a:defRPr>
            </a:pPr>
            <a:r>
              <a:t>   → Hides UCIe transfer latency completely</a:t>
            </a:r>
          </a:p>
          <a:p>
            <a:pPr>
              <a:spcAft>
                <a:spcPts val="0"/>
              </a:spcAft>
              <a:defRPr sz="850">
                <a:solidFill>
                  <a:srgbClr val="554433"/>
                </a:solidFill>
                <a:latin typeface="Consolas"/>
              </a:defRPr>
            </a:pPr>
            <a:endParaRPr/>
          </a:p>
          <a:p>
            <a:pPr>
              <a:spcAft>
                <a:spcPts val="0"/>
              </a:spcAft>
              <a:defRPr sz="850">
                <a:solidFill>
                  <a:srgbClr val="554433"/>
                </a:solidFill>
                <a:latin typeface="Consolas"/>
              </a:defRPr>
            </a:pPr>
            <a:r>
              <a:t>4. Configurable array partitioning (2x 32x64)</a:t>
            </a:r>
          </a:p>
          <a:p>
            <a:pPr>
              <a:spcAft>
                <a:spcPts val="0"/>
              </a:spcAft>
              <a:defRPr sz="850">
                <a:solidFill>
                  <a:srgbClr val="554433"/>
                </a:solidFill>
                <a:latin typeface="Consolas"/>
              </a:defRPr>
            </a:pPr>
            <a:r>
              <a:t>   → Run two matmuls concurrently for smaller dims</a:t>
            </a:r>
          </a:p>
        </p:txBody>
      </p:sp>
      <p:pic>
        <p:nvPicPr>
          <p:cNvPr id="8" name="Picture 7" descr="all.png"/>
          <p:cNvPicPr>
            <a:picLocks noChangeAspect="1"/>
          </p:cNvPicPr>
          <p:nvPr/>
        </p:nvPicPr>
        <p:blipFill>
          <a:blip r:embed="rId3"/>
          <a:stretch>
            <a:fillRect/>
          </a:stretch>
        </p:blipFill>
        <p:spPr>
          <a:xfrm>
            <a:off x="8366760" y="777240"/>
            <a:ext cx="3657600" cy="2560320"/>
          </a:xfrm>
          <a:prstGeom prst="rect">
            <a:avLst/>
          </a:prstGeom>
        </p:spPr>
      </p:pic>
      <p:sp>
        <p:nvSpPr>
          <p:cNvPr id="9" name="TextBox 8"/>
          <p:cNvSpPr txBox="1"/>
          <p:nvPr/>
        </p:nvSpPr>
        <p:spPr>
          <a:xfrm>
            <a:off x="8366760" y="3337560"/>
            <a:ext cx="3657600" cy="228600"/>
          </a:xfrm>
          <a:prstGeom prst="rect">
            <a:avLst/>
          </a:prstGeom>
          <a:noFill/>
        </p:spPr>
        <p:txBody>
          <a:bodyPr wrap="none">
            <a:spAutoFit/>
          </a:bodyPr>
          <a:lstStyle/>
          <a:p>
            <a:pPr algn="ctr">
              <a:defRPr sz="800" i="1">
                <a:solidFill>
                  <a:srgbClr val="666666"/>
                </a:solidFill>
              </a:defRPr>
            </a:pPr>
            <a:r>
              <a:t>FP32 Roofline: ff_backward + attention — all platforms</a:t>
            </a:r>
          </a:p>
        </p:txBody>
      </p:sp>
      <p:sp>
        <p:nvSpPr>
          <p:cNvPr id="10" name="Rectangle 9"/>
          <p:cNvSpPr/>
          <p:nvPr/>
        </p:nvSpPr>
        <p:spPr>
          <a:xfrm>
            <a:off x="8366760" y="3657600"/>
            <a:ext cx="3657600" cy="2286000"/>
          </a:xfrm>
          <a:prstGeom prst="rect">
            <a:avLst/>
          </a:prstGeom>
          <a:solidFill>
            <a:srgbClr val="FFFFFF"/>
          </a:solidFill>
          <a:ln w="12700">
            <a:solidFill>
              <a:srgbClr val="1B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B3A5C"/>
                </a:solidFill>
              </a:defRPr>
            </a:pPr>
            <a:r>
              <a:t>Accelerator+ Architecture</a:t>
            </a:r>
          </a:p>
          <a:p>
            <a:pPr algn="l">
              <a:spcAft>
                <a:spcPts val="0"/>
              </a:spcAft>
              <a:defRPr sz="850">
                <a:solidFill>
                  <a:srgbClr val="333333"/>
                </a:solidFill>
                <a:latin typeface="Consolas"/>
              </a:defRPr>
            </a:pPr>
            <a:endParaRPr/>
          </a:p>
          <a:p>
            <a:pPr algn="l">
              <a:spcAft>
                <a:spcPts val="0"/>
              </a:spcAft>
              <a:defRPr sz="850">
                <a:solidFill>
                  <a:srgbClr val="333333"/>
                </a:solidFill>
                <a:latin typeface="Consolas"/>
              </a:defRPr>
            </a:pPr>
            <a:r>
              <a:t>  Host CPU (i5-10500H)    ← runs 20% of workload</a:t>
            </a:r>
          </a:p>
          <a:p>
            <a:pPr algn="l">
              <a:spcAft>
                <a:spcPts val="0"/>
              </a:spcAft>
              <a:defRPr sz="850">
                <a:solidFill>
                  <a:srgbClr val="333333"/>
                </a:solidFill>
                <a:latin typeface="Consolas"/>
              </a:defRPr>
            </a:pPr>
            <a:r>
              <a:t>     |  UCIe x16 (8 GB/s bidir)</a:t>
            </a:r>
          </a:p>
          <a:p>
            <a:pPr algn="l">
              <a:spcAft>
                <a:spcPts val="0"/>
              </a:spcAft>
              <a:defRPr sz="850">
                <a:solidFill>
                  <a:srgbClr val="333333"/>
                </a:solidFill>
                <a:latin typeface="Consolas"/>
              </a:defRPr>
            </a:pPr>
            <a:r>
              <a:t>     v</a:t>
            </a:r>
          </a:p>
          <a:p>
            <a:pPr algn="l">
              <a:spcAft>
                <a:spcPts val="0"/>
              </a:spcAft>
              <a:defRPr sz="850">
                <a:solidFill>
                  <a:srgbClr val="333333"/>
                </a:solidFill>
                <a:latin typeface="Consolas"/>
              </a:defRPr>
            </a:pPr>
            <a:r>
              <a:t>  +──────── Accelerator+ Chiplet ────────+</a:t>
            </a:r>
          </a:p>
          <a:p>
            <a:pPr algn="l">
              <a:spcAft>
                <a:spcPts val="0"/>
              </a:spcAft>
              <a:defRPr sz="850">
                <a:solidFill>
                  <a:srgbClr val="333333"/>
                </a:solidFill>
                <a:latin typeface="Consolas"/>
              </a:defRPr>
            </a:pPr>
            <a:r>
              <a:t>  │  64x64 Systolic Array @ 500 MHz      │</a:t>
            </a:r>
          </a:p>
          <a:p>
            <a:pPr algn="l">
              <a:spcAft>
                <a:spcPts val="0"/>
              </a:spcAft>
              <a:defRPr sz="850">
                <a:solidFill>
                  <a:srgbClr val="333333"/>
                </a:solidFill>
                <a:latin typeface="Consolas"/>
              </a:defRPr>
            </a:pPr>
            <a:r>
              <a:t>  │  4,096 MACs → 8.2 TFLOP/s FP32      │</a:t>
            </a:r>
          </a:p>
          <a:p>
            <a:pPr algn="l">
              <a:spcAft>
                <a:spcPts val="0"/>
              </a:spcAft>
              <a:defRPr sz="850">
                <a:solidFill>
                  <a:srgbClr val="333333"/>
                </a:solidFill>
                <a:latin typeface="Consolas"/>
              </a:defRPr>
            </a:pPr>
            <a:r>
              <a:t>  │                                      │</a:t>
            </a:r>
          </a:p>
          <a:p>
            <a:pPr algn="l">
              <a:spcAft>
                <a:spcPts val="0"/>
              </a:spcAft>
              <a:defRPr sz="850">
                <a:solidFill>
                  <a:srgbClr val="333333"/>
                </a:solidFill>
                <a:latin typeface="Consolas"/>
              </a:defRPr>
            </a:pPr>
            <a:r>
              <a:t>  │  [gelu_grad] ← fused at output       │</a:t>
            </a:r>
          </a:p>
          <a:p>
            <a:pPr algn="l">
              <a:spcAft>
                <a:spcPts val="0"/>
              </a:spcAft>
              <a:defRPr sz="850">
                <a:solidFill>
                  <a:srgbClr val="333333"/>
                </a:solidFill>
                <a:latin typeface="Consolas"/>
              </a:defRPr>
            </a:pPr>
            <a:r>
              <a:t>  │  [softmax]   ← fused at output       │</a:t>
            </a:r>
          </a:p>
          <a:p>
            <a:pPr algn="l">
              <a:spcAft>
                <a:spcPts val="0"/>
              </a:spcAft>
              <a:defRPr sz="850">
                <a:solidFill>
                  <a:srgbClr val="333333"/>
                </a:solidFill>
                <a:latin typeface="Consolas"/>
              </a:defRPr>
            </a:pPr>
            <a:r>
              <a:t>  │  [causal mask] ← gate logic          │</a:t>
            </a:r>
          </a:p>
          <a:p>
            <a:pPr algn="l">
              <a:spcAft>
                <a:spcPts val="0"/>
              </a:spcAft>
              <a:defRPr sz="850">
                <a:solidFill>
                  <a:srgbClr val="333333"/>
                </a:solidFill>
                <a:latin typeface="Consolas"/>
              </a:defRPr>
            </a:pPr>
            <a:r>
              <a:t>  │                                      │</a:t>
            </a:r>
          </a:p>
          <a:p>
            <a:pPr algn="l">
              <a:spcAft>
                <a:spcPts val="0"/>
              </a:spcAft>
              <a:defRPr sz="850">
                <a:solidFill>
                  <a:srgbClr val="333333"/>
                </a:solidFill>
                <a:latin typeface="Consolas"/>
              </a:defRPr>
            </a:pPr>
            <a:r>
              <a:t>  │  SRAM Scratchpad (512 GB/s)  ~11.5W  │</a:t>
            </a:r>
          </a:p>
          <a:p>
            <a:pPr algn="l">
              <a:spcAft>
                <a:spcPts val="0"/>
              </a:spcAft>
              <a:defRPr sz="850">
                <a:solidFill>
                  <a:srgbClr val="333333"/>
                </a:solidFill>
                <a:latin typeface="Consolas"/>
              </a:defRPr>
            </a:pPr>
            <a:r>
              <a:t>  +──────────────────────────────────────+</a:t>
            </a:r>
          </a:p>
        </p:txBody>
      </p:sp>
      <p:sp>
        <p:nvSpPr>
          <p:cNvPr id="11" name="Rectangle 10"/>
          <p:cNvSpPr/>
          <p:nvPr/>
        </p:nvSpPr>
        <p:spPr>
          <a:xfrm>
            <a:off x="0" y="6537960"/>
            <a:ext cx="12191695" cy="3200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80% of training accelerated  |  Fusion: AI 10.86 → 35.4 (compute-bound)  |  8,192 GFLOP/s @ 11.5W  |  29x more efficient than RTX 4080  |  Amdahl's: 3.6x end-to-end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1240</TotalTime>
  <Words>858</Words>
  <Application>Microsoft Office PowerPoint</Application>
  <PresentationFormat>Widescreen</PresentationFormat>
  <Paragraphs>77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Boss</cp:lastModifiedBy>
  <cp:revision>1</cp:revision>
  <dcterms:created xsi:type="dcterms:W3CDTF">2013-01-27T09:14:16Z</dcterms:created>
  <dcterms:modified xsi:type="dcterms:W3CDTF">2026-04-22T22:43:25Z</dcterms:modified>
  <cp:category/>
</cp:coreProperties>
</file>